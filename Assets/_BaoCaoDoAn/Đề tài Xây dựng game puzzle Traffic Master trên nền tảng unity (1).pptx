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Faustina" panose="020B0604020202020204" charset="0"/>
      <p:regular r:id="rId26"/>
    </p:embeddedFont>
    <p:embeddedFont>
      <p:font typeface="Faustina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0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sv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15.svg"/><Relationship Id="rId4" Type="http://schemas.openxmlformats.org/officeDocument/2006/relationships/image" Target="../media/image18.jpe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77777" y="5954242"/>
            <a:ext cx="5028199" cy="50281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0872055" y="-687463"/>
            <a:ext cx="12343670" cy="12452630"/>
          </a:xfrm>
          <a:custGeom>
            <a:avLst/>
            <a:gdLst/>
            <a:ahLst/>
            <a:cxnLst/>
            <a:rect l="l" t="t" r="r" b="b"/>
            <a:pathLst>
              <a:path w="12343670" h="12452630">
                <a:moveTo>
                  <a:pt x="12343669" y="0"/>
                </a:moveTo>
                <a:lnTo>
                  <a:pt x="0" y="0"/>
                </a:lnTo>
                <a:lnTo>
                  <a:pt x="0" y="12452630"/>
                </a:lnTo>
                <a:lnTo>
                  <a:pt x="12343669" y="12452630"/>
                </a:lnTo>
                <a:lnTo>
                  <a:pt x="123436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010819" y="491602"/>
            <a:ext cx="5028199" cy="502819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506697" y="-1847332"/>
            <a:ext cx="4305442" cy="430544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458244" y="-2894446"/>
            <a:ext cx="4305442" cy="430544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45166" y="1441181"/>
            <a:ext cx="7159505" cy="715950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316106" y="1668059"/>
            <a:ext cx="6370145" cy="637014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511328" y="5731131"/>
            <a:ext cx="5601190" cy="847741"/>
            <a:chOff x="0" y="0"/>
            <a:chExt cx="1559255" cy="2359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9255" cy="235993"/>
            </a:xfrm>
            <a:custGeom>
              <a:avLst/>
              <a:gdLst/>
              <a:ahLst/>
              <a:cxnLst/>
              <a:rect l="l" t="t" r="r" b="b"/>
              <a:pathLst>
                <a:path w="1559255" h="235993">
                  <a:moveTo>
                    <a:pt x="117997" y="0"/>
                  </a:moveTo>
                  <a:lnTo>
                    <a:pt x="1441258" y="0"/>
                  </a:lnTo>
                  <a:cubicBezTo>
                    <a:pt x="1506426" y="0"/>
                    <a:pt x="1559255" y="52829"/>
                    <a:pt x="1559255" y="117997"/>
                  </a:cubicBezTo>
                  <a:lnTo>
                    <a:pt x="1559255" y="117997"/>
                  </a:lnTo>
                  <a:cubicBezTo>
                    <a:pt x="1559255" y="149291"/>
                    <a:pt x="1546823" y="179304"/>
                    <a:pt x="1524695" y="201433"/>
                  </a:cubicBezTo>
                  <a:cubicBezTo>
                    <a:pt x="1502566" y="223562"/>
                    <a:pt x="1472553" y="235993"/>
                    <a:pt x="1441258" y="235993"/>
                  </a:cubicBezTo>
                  <a:lnTo>
                    <a:pt x="117997" y="235993"/>
                  </a:lnTo>
                  <a:cubicBezTo>
                    <a:pt x="52829" y="235993"/>
                    <a:pt x="0" y="183164"/>
                    <a:pt x="0" y="117997"/>
                  </a:cubicBezTo>
                  <a:lnTo>
                    <a:pt x="0" y="117997"/>
                  </a:lnTo>
                  <a:cubicBezTo>
                    <a:pt x="0" y="52829"/>
                    <a:pt x="52829" y="0"/>
                    <a:pt x="117997" y="0"/>
                  </a:cubicBez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559255" cy="293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Sinh viên: Nguyễn Như Quyền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5074567" y="9389962"/>
            <a:ext cx="6587566" cy="0"/>
          </a:xfrm>
          <a:prstGeom prst="line">
            <a:avLst/>
          </a:prstGeom>
          <a:ln w="66675" cap="flat">
            <a:solidFill>
              <a:srgbClr val="12358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4" name="Freeform 24"/>
          <p:cNvSpPr/>
          <p:nvPr/>
        </p:nvSpPr>
        <p:spPr>
          <a:xfrm>
            <a:off x="10101361" y="-121968"/>
            <a:ext cx="894519" cy="1938492"/>
          </a:xfrm>
          <a:custGeom>
            <a:avLst/>
            <a:gdLst/>
            <a:ahLst/>
            <a:cxnLst/>
            <a:rect l="l" t="t" r="r" b="b"/>
            <a:pathLst>
              <a:path w="894519" h="1938492">
                <a:moveTo>
                  <a:pt x="0" y="0"/>
                </a:moveTo>
                <a:lnTo>
                  <a:pt x="894519" y="0"/>
                </a:lnTo>
                <a:lnTo>
                  <a:pt x="894519" y="1938493"/>
                </a:lnTo>
                <a:lnTo>
                  <a:pt x="0" y="19384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-253622" y="8420716"/>
            <a:ext cx="894519" cy="1938492"/>
          </a:xfrm>
          <a:custGeom>
            <a:avLst/>
            <a:gdLst/>
            <a:ahLst/>
            <a:cxnLst/>
            <a:rect l="l" t="t" r="r" b="b"/>
            <a:pathLst>
              <a:path w="894519" h="1938492">
                <a:moveTo>
                  <a:pt x="0" y="0"/>
                </a:moveTo>
                <a:lnTo>
                  <a:pt x="894519" y="0"/>
                </a:lnTo>
                <a:lnTo>
                  <a:pt x="894519" y="1938492"/>
                </a:lnTo>
                <a:lnTo>
                  <a:pt x="0" y="1938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24495" r="-368184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511328" y="7864763"/>
            <a:ext cx="7572934" cy="847741"/>
            <a:chOff x="0" y="0"/>
            <a:chExt cx="2108147" cy="23599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8147" cy="235993"/>
            </a:xfrm>
            <a:custGeom>
              <a:avLst/>
              <a:gdLst/>
              <a:ahLst/>
              <a:cxnLst/>
              <a:rect l="l" t="t" r="r" b="b"/>
              <a:pathLst>
                <a:path w="2108147" h="235993">
                  <a:moveTo>
                    <a:pt x="102231" y="0"/>
                  </a:moveTo>
                  <a:lnTo>
                    <a:pt x="2005916" y="0"/>
                  </a:lnTo>
                  <a:cubicBezTo>
                    <a:pt x="2033030" y="0"/>
                    <a:pt x="2059032" y="10771"/>
                    <a:pt x="2078205" y="29943"/>
                  </a:cubicBezTo>
                  <a:cubicBezTo>
                    <a:pt x="2097377" y="49115"/>
                    <a:pt x="2108147" y="75118"/>
                    <a:pt x="2108147" y="102231"/>
                  </a:cubicBezTo>
                  <a:lnTo>
                    <a:pt x="2108147" y="133762"/>
                  </a:lnTo>
                  <a:cubicBezTo>
                    <a:pt x="2108147" y="160875"/>
                    <a:pt x="2097377" y="186878"/>
                    <a:pt x="2078205" y="206051"/>
                  </a:cubicBezTo>
                  <a:cubicBezTo>
                    <a:pt x="2059032" y="225223"/>
                    <a:pt x="2033030" y="235993"/>
                    <a:pt x="2005916" y="235993"/>
                  </a:cubicBezTo>
                  <a:lnTo>
                    <a:pt x="102231" y="235993"/>
                  </a:lnTo>
                  <a:cubicBezTo>
                    <a:pt x="75118" y="235993"/>
                    <a:pt x="49115" y="225223"/>
                    <a:pt x="29943" y="206051"/>
                  </a:cubicBezTo>
                  <a:cubicBezTo>
                    <a:pt x="10771" y="186878"/>
                    <a:pt x="0" y="160875"/>
                    <a:pt x="0" y="133762"/>
                  </a:cubicBezTo>
                  <a:lnTo>
                    <a:pt x="0" y="102231"/>
                  </a:lnTo>
                  <a:cubicBezTo>
                    <a:pt x="0" y="75118"/>
                    <a:pt x="10771" y="49115"/>
                    <a:pt x="29943" y="29943"/>
                  </a:cubicBezTo>
                  <a:cubicBezTo>
                    <a:pt x="49115" y="10771"/>
                    <a:pt x="75118" y="0"/>
                    <a:pt x="102231" y="0"/>
                  </a:cubicBez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2108147" cy="293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Giảng viên hướng dẫn: TS Nguyễn Bá Quảng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-962658" y="-374072"/>
            <a:ext cx="3933587" cy="2832182"/>
          </a:xfrm>
          <a:custGeom>
            <a:avLst/>
            <a:gdLst/>
            <a:ahLst/>
            <a:cxnLst/>
            <a:rect l="l" t="t" r="r" b="b"/>
            <a:pathLst>
              <a:path w="3933587" h="2832182">
                <a:moveTo>
                  <a:pt x="0" y="0"/>
                </a:moveTo>
                <a:lnTo>
                  <a:pt x="3933586" y="0"/>
                </a:lnTo>
                <a:lnTo>
                  <a:pt x="3933586" y="2832182"/>
                </a:lnTo>
                <a:lnTo>
                  <a:pt x="0" y="28321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88063">
            <a:off x="1032755" y="897575"/>
            <a:ext cx="1475017" cy="1087211"/>
          </a:xfrm>
          <a:custGeom>
            <a:avLst/>
            <a:gdLst/>
            <a:ahLst/>
            <a:cxnLst/>
            <a:rect l="l" t="t" r="r" b="b"/>
            <a:pathLst>
              <a:path w="1475017" h="1087211">
                <a:moveTo>
                  <a:pt x="0" y="0"/>
                </a:moveTo>
                <a:lnTo>
                  <a:pt x="1475017" y="0"/>
                </a:lnTo>
                <a:lnTo>
                  <a:pt x="1475017" y="1087211"/>
                </a:lnTo>
                <a:lnTo>
                  <a:pt x="0" y="10872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511328" y="6797947"/>
            <a:ext cx="2800595" cy="847741"/>
            <a:chOff x="0" y="0"/>
            <a:chExt cx="779627" cy="2359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79628" cy="235993"/>
            </a:xfrm>
            <a:custGeom>
              <a:avLst/>
              <a:gdLst/>
              <a:ahLst/>
              <a:cxnLst/>
              <a:rect l="l" t="t" r="r" b="b"/>
              <a:pathLst>
                <a:path w="779628" h="235993">
                  <a:moveTo>
                    <a:pt x="117997" y="0"/>
                  </a:moveTo>
                  <a:lnTo>
                    <a:pt x="661631" y="0"/>
                  </a:lnTo>
                  <a:cubicBezTo>
                    <a:pt x="726799" y="0"/>
                    <a:pt x="779628" y="52829"/>
                    <a:pt x="779628" y="117997"/>
                  </a:cubicBezTo>
                  <a:lnTo>
                    <a:pt x="779628" y="117997"/>
                  </a:lnTo>
                  <a:cubicBezTo>
                    <a:pt x="779628" y="149291"/>
                    <a:pt x="767196" y="179304"/>
                    <a:pt x="745067" y="201433"/>
                  </a:cubicBezTo>
                  <a:cubicBezTo>
                    <a:pt x="722938" y="223562"/>
                    <a:pt x="692925" y="235993"/>
                    <a:pt x="661631" y="235993"/>
                  </a:cubicBezTo>
                  <a:lnTo>
                    <a:pt x="117997" y="235993"/>
                  </a:lnTo>
                  <a:cubicBezTo>
                    <a:pt x="52829" y="235993"/>
                    <a:pt x="0" y="183164"/>
                    <a:pt x="0" y="117997"/>
                  </a:cubicBezTo>
                  <a:lnTo>
                    <a:pt x="0" y="117997"/>
                  </a:lnTo>
                  <a:cubicBezTo>
                    <a:pt x="0" y="52829"/>
                    <a:pt x="52829" y="0"/>
                    <a:pt x="117997" y="0"/>
                  </a:cubicBez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779627" cy="293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Faustina"/>
                  <a:ea typeface="Faustina"/>
                  <a:cs typeface="Faustina"/>
                  <a:sym typeface="Faustina"/>
                </a:rPr>
                <a:t>Lớp : 61TH2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511328" y="2458110"/>
            <a:ext cx="7572934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Đề</a:t>
            </a:r>
            <a:r>
              <a:rPr lang="en-US" sz="57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7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57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</a:p>
          <a:p>
            <a:pPr algn="ctr">
              <a:lnSpc>
                <a:spcPts val="6959"/>
              </a:lnSpc>
            </a:pPr>
            <a:r>
              <a:rPr lang="en-US" sz="57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Xây</a:t>
            </a:r>
            <a:r>
              <a:rPr lang="en-US" sz="57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57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dựng</a:t>
            </a:r>
            <a:r>
              <a:rPr lang="en-US" sz="57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Traffic Master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71066" y="9109890"/>
            <a:ext cx="350350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342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GET STARTED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89766" y="1958622"/>
            <a:ext cx="8311835" cy="9678993"/>
          </a:xfrm>
          <a:custGeom>
            <a:avLst/>
            <a:gdLst/>
            <a:ahLst/>
            <a:cxnLst/>
            <a:rect l="l" t="t" r="r" b="b"/>
            <a:pathLst>
              <a:path w="8311835" h="9678993">
                <a:moveTo>
                  <a:pt x="0" y="0"/>
                </a:moveTo>
                <a:lnTo>
                  <a:pt x="8311835" y="0"/>
                </a:lnTo>
                <a:lnTo>
                  <a:pt x="8311835" y="9678993"/>
                </a:lnTo>
                <a:lnTo>
                  <a:pt x="0" y="967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5591981" y="-1120065"/>
            <a:ext cx="8713765" cy="10147034"/>
          </a:xfrm>
          <a:custGeom>
            <a:avLst/>
            <a:gdLst/>
            <a:ahLst/>
            <a:cxnLst/>
            <a:rect l="l" t="t" r="r" b="b"/>
            <a:pathLst>
              <a:path w="8713765" h="10147034">
                <a:moveTo>
                  <a:pt x="8713765" y="10147034"/>
                </a:moveTo>
                <a:lnTo>
                  <a:pt x="0" y="10147034"/>
                </a:lnTo>
                <a:lnTo>
                  <a:pt x="0" y="0"/>
                </a:lnTo>
                <a:lnTo>
                  <a:pt x="8713765" y="0"/>
                </a:lnTo>
                <a:lnTo>
                  <a:pt x="8713765" y="1014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028700" y="1233597"/>
            <a:ext cx="5290852" cy="529085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23586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rot="-10800000">
            <a:off x="4860860" y="7528370"/>
            <a:ext cx="798278" cy="1729930"/>
          </a:xfrm>
          <a:custGeom>
            <a:avLst/>
            <a:gdLst/>
            <a:ahLst/>
            <a:cxnLst/>
            <a:rect l="l" t="t" r="r" b="b"/>
            <a:pathLst>
              <a:path w="798278" h="1729930">
                <a:moveTo>
                  <a:pt x="0" y="0"/>
                </a:moveTo>
                <a:lnTo>
                  <a:pt x="798278" y="0"/>
                </a:lnTo>
                <a:lnTo>
                  <a:pt x="798278" y="1729930"/>
                </a:lnTo>
                <a:lnTo>
                  <a:pt x="0" y="172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9633" y="1007090"/>
            <a:ext cx="5688985" cy="5688985"/>
          </a:xfrm>
          <a:custGeom>
            <a:avLst/>
            <a:gdLst/>
            <a:ahLst/>
            <a:cxnLst/>
            <a:rect l="l" t="t" r="r" b="b"/>
            <a:pathLst>
              <a:path w="5688985" h="5688985">
                <a:moveTo>
                  <a:pt x="0" y="0"/>
                </a:moveTo>
                <a:lnTo>
                  <a:pt x="5688986" y="0"/>
                </a:lnTo>
                <a:lnTo>
                  <a:pt x="5688986" y="5688985"/>
                </a:lnTo>
                <a:lnTo>
                  <a:pt x="0" y="5688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471386" y="1624122"/>
            <a:ext cx="907908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1: Tổng quan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80617" y="2605197"/>
            <a:ext cx="907908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2: Cơ sở lý thuyết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71386" y="3665273"/>
            <a:ext cx="907908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3: Thiết kế trò chơi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1386" y="4886325"/>
            <a:ext cx="978791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4: Giải pháp và các đóng góp nổi bật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1386" y="6105525"/>
            <a:ext cx="907908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5: Cài đặt và triển khai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1386" y="7324725"/>
            <a:ext cx="9079084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Chương 6: Kết luận và hướng phát triển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1386" y="490647"/>
            <a:ext cx="907908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Nội dung trình bày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065" y="818727"/>
            <a:ext cx="988600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1: Tổng quan  đề tài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0326489" y="0"/>
            <a:ext cx="12699959" cy="12812064"/>
          </a:xfrm>
          <a:custGeom>
            <a:avLst/>
            <a:gdLst/>
            <a:ahLst/>
            <a:cxnLst/>
            <a:rect l="l" t="t" r="r" b="b"/>
            <a:pathLst>
              <a:path w="12699959" h="12812064">
                <a:moveTo>
                  <a:pt x="12699959" y="12812064"/>
                </a:moveTo>
                <a:lnTo>
                  <a:pt x="0" y="12812064"/>
                </a:lnTo>
                <a:lnTo>
                  <a:pt x="0" y="0"/>
                </a:lnTo>
                <a:lnTo>
                  <a:pt x="12699959" y="0"/>
                </a:lnTo>
                <a:lnTo>
                  <a:pt x="12699959" y="128120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0617067" y="2813253"/>
            <a:ext cx="6007932" cy="6007932"/>
            <a:chOff x="0" y="0"/>
            <a:chExt cx="8010576" cy="801057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010576" cy="8010576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DED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10712" y="510712"/>
              <a:ext cx="6989152" cy="6989152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38996" b="-38996"/>
                </a:stretch>
              </a:blipFill>
            </p:spPr>
          </p:sp>
        </p:grpSp>
      </p:grpSp>
      <p:sp>
        <p:nvSpPr>
          <p:cNvPr id="10" name="Freeform 10"/>
          <p:cNvSpPr/>
          <p:nvPr/>
        </p:nvSpPr>
        <p:spPr>
          <a:xfrm rot="-5400000">
            <a:off x="14234207" y="8957285"/>
            <a:ext cx="1050785" cy="2277134"/>
          </a:xfrm>
          <a:custGeom>
            <a:avLst/>
            <a:gdLst/>
            <a:ahLst/>
            <a:cxnLst/>
            <a:rect l="l" t="t" r="r" b="b"/>
            <a:pathLst>
              <a:path w="1050785" h="2277134">
                <a:moveTo>
                  <a:pt x="0" y="0"/>
                </a:moveTo>
                <a:lnTo>
                  <a:pt x="1050786" y="0"/>
                </a:lnTo>
                <a:lnTo>
                  <a:pt x="1050786" y="2277134"/>
                </a:lnTo>
                <a:lnTo>
                  <a:pt x="0" y="227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38122" y="5263718"/>
            <a:ext cx="9588367" cy="357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Đặc điểm:</a:t>
            </a:r>
          </a:p>
          <a:p>
            <a:pPr marL="1252218" lvl="2" indent="-417406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Lối chơi đơn giản, trực quan, đồ họa bắt mắt</a:t>
            </a:r>
          </a:p>
          <a:p>
            <a:pPr marL="1252218" lvl="2" indent="-417406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Nhiều kịch bản chơi</a:t>
            </a:r>
          </a:p>
          <a:p>
            <a:pPr marL="1252218" lvl="2" indent="-417406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 triển kỹ năng phân tích, sắp xếp, lập kế hoạch</a:t>
            </a:r>
          </a:p>
          <a:p>
            <a:pPr marL="1252218" lvl="2" indent="-417406" algn="l">
              <a:lnSpc>
                <a:spcPts val="4059"/>
              </a:lnSpc>
              <a:buFont typeface="Arial"/>
              <a:buChar char="⚬"/>
            </a:pPr>
            <a:r>
              <a:rPr lang="en-US" sz="28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 ứng đẹp mắt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1065" y="2765628"/>
            <a:ext cx="9588367" cy="2545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đề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Traffic Master – Game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logic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mô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phỏng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ùn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tắc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         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Mục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tiêu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một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trò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duy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logic,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mô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phỏng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tình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trạng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đô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thị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05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192256"/>
            <a:ext cx="776307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1.1 Giới thiệu đề tài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2816" y="781050"/>
            <a:ext cx="4532941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1.2 Các chức năng chính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-4253420" y="21274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0709696" y="4151267"/>
            <a:ext cx="5698811" cy="569881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t="-38709" b="-38709"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880242" y="1607399"/>
            <a:ext cx="7057187" cy="760015"/>
            <a:chOff x="0" y="0"/>
            <a:chExt cx="3773665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97278" y="196919"/>
            <a:ext cx="5323646" cy="532364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t="-16064"/>
              </a:stretch>
            </a:blipFill>
            <a:ln w="142875" cap="sq">
              <a:solidFill>
                <a:srgbClr val="517DED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880242" y="2858742"/>
            <a:ext cx="7057187" cy="760015"/>
            <a:chOff x="0" y="0"/>
            <a:chExt cx="3773665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80242" y="4110084"/>
            <a:ext cx="7057187" cy="760015"/>
            <a:chOff x="0" y="0"/>
            <a:chExt cx="3773665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80242" y="5296990"/>
            <a:ext cx="7057187" cy="760015"/>
            <a:chOff x="0" y="0"/>
            <a:chExt cx="3773665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80242" y="6519320"/>
            <a:ext cx="7057187" cy="760015"/>
            <a:chOff x="0" y="0"/>
            <a:chExt cx="3773665" cy="406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80242" y="7741651"/>
            <a:ext cx="7057187" cy="760015"/>
            <a:chOff x="0" y="0"/>
            <a:chExt cx="3773665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773665" cy="406400"/>
            </a:xfrm>
            <a:custGeom>
              <a:avLst/>
              <a:gdLst/>
              <a:ahLst/>
              <a:cxnLst/>
              <a:rect l="l" t="t" r="r" b="b"/>
              <a:pathLst>
                <a:path w="3773665" h="406400">
                  <a:moveTo>
                    <a:pt x="3570465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3570465" y="406400"/>
                  </a:lnTo>
                  <a:lnTo>
                    <a:pt x="3773665" y="203200"/>
                  </a:lnTo>
                  <a:lnTo>
                    <a:pt x="3570465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52400" y="-38100"/>
              <a:ext cx="3468865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381805" y="1719437"/>
            <a:ext cx="3764399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dirty="0" err="1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Chọn</a:t>
            </a:r>
            <a:r>
              <a:rPr lang="en-US" sz="2899" dirty="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899" dirty="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899" dirty="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899" dirty="0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 di </a:t>
            </a:r>
            <a:r>
              <a:rPr lang="en-US" sz="2899" dirty="0" err="1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chuyển</a:t>
            </a:r>
            <a:endParaRPr lang="en-US" sz="2899" dirty="0">
              <a:solidFill>
                <a:srgbClr val="FFFF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81805" y="2970779"/>
            <a:ext cx="3764399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Sử dụng các booster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81805" y="4222121"/>
            <a:ext cx="5125270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Quay vòng quay may mắn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381805" y="5409027"/>
            <a:ext cx="5955069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Mua skin và các booster trong shop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81805" y="6631358"/>
            <a:ext cx="6286989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Thu thập phần thưởng sau mỗi màn chơi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81805" y="7853688"/>
            <a:ext cx="6286989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Faustina"/>
                <a:ea typeface="Faustina"/>
                <a:cs typeface="Faustina"/>
                <a:sym typeface="Faustina"/>
              </a:rPr>
              <a:t>Đổi màu xe, nền đất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065" y="1898990"/>
            <a:ext cx="807840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2.1 Unity Engine</a:t>
            </a:r>
          </a:p>
          <a:p>
            <a:pPr algn="just">
              <a:lnSpc>
                <a:spcPts val="3599"/>
              </a:lnSpc>
            </a:pPr>
            <a:endParaRPr lang="en-US" sz="2999" b="1">
              <a:solidFill>
                <a:srgbClr val="123586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197823" y="0"/>
            <a:ext cx="2937046" cy="10287000"/>
            <a:chOff x="0" y="0"/>
            <a:chExt cx="77354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3543" cy="2709333"/>
            </a:xfrm>
            <a:custGeom>
              <a:avLst/>
              <a:gdLst/>
              <a:ahLst/>
              <a:cxnLst/>
              <a:rect l="l" t="t" r="r" b="b"/>
              <a:pathLst>
                <a:path w="773543" h="2709333">
                  <a:moveTo>
                    <a:pt x="0" y="0"/>
                  </a:moveTo>
                  <a:lnTo>
                    <a:pt x="773543" y="0"/>
                  </a:lnTo>
                  <a:lnTo>
                    <a:pt x="773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735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84565" y="3742313"/>
            <a:ext cx="3687350" cy="10287000"/>
            <a:chOff x="0" y="0"/>
            <a:chExt cx="971154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1154" cy="2709333"/>
            </a:xfrm>
            <a:custGeom>
              <a:avLst/>
              <a:gdLst/>
              <a:ahLst/>
              <a:cxnLst/>
              <a:rect l="l" t="t" r="r" b="b"/>
              <a:pathLst>
                <a:path w="971154" h="2709333">
                  <a:moveTo>
                    <a:pt x="0" y="0"/>
                  </a:moveTo>
                  <a:lnTo>
                    <a:pt x="971154" y="0"/>
                  </a:lnTo>
                  <a:lnTo>
                    <a:pt x="971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7115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85208" y="173650"/>
            <a:ext cx="6505710" cy="650571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45486" r="-45486"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 rot="-5400000">
            <a:off x="16541800" y="978498"/>
            <a:ext cx="851963" cy="1846271"/>
          </a:xfrm>
          <a:custGeom>
            <a:avLst/>
            <a:gdLst/>
            <a:ahLst/>
            <a:cxnLst/>
            <a:rect l="l" t="t" r="r" b="b"/>
            <a:pathLst>
              <a:path w="851963" h="1846271">
                <a:moveTo>
                  <a:pt x="0" y="0"/>
                </a:moveTo>
                <a:lnTo>
                  <a:pt x="851964" y="0"/>
                </a:lnTo>
                <a:lnTo>
                  <a:pt x="851964" y="1846271"/>
                </a:lnTo>
                <a:lnTo>
                  <a:pt x="0" y="184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1065" y="818727"/>
            <a:ext cx="988600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2: Cơ sở lý thuyết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065" y="2699090"/>
            <a:ext cx="9886002" cy="607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Ra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mắt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2005,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phổ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biến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mạnh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triển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2D &amp; 3D,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đặc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biệt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di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động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(iOS, Android).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thời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thực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phù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bắt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đầu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Hệ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sinh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mạnh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gồm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cụ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âm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thanh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,...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nhiều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nền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Android, iOS, Windows,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MacOS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Linux, Web, Console,...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Cộng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đảo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Unity Asset Store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sẵn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ngôn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ngữ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C# –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phổ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biến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just">
              <a:lnSpc>
                <a:spcPts val="347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065" y="1898990"/>
            <a:ext cx="807840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2.2  JetBrains Rider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197823" y="0"/>
            <a:ext cx="2937046" cy="10287000"/>
            <a:chOff x="0" y="0"/>
            <a:chExt cx="77354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3543" cy="2709333"/>
            </a:xfrm>
            <a:custGeom>
              <a:avLst/>
              <a:gdLst/>
              <a:ahLst/>
              <a:cxnLst/>
              <a:rect l="l" t="t" r="r" b="b"/>
              <a:pathLst>
                <a:path w="773543" h="2709333">
                  <a:moveTo>
                    <a:pt x="0" y="0"/>
                  </a:moveTo>
                  <a:lnTo>
                    <a:pt x="773543" y="0"/>
                  </a:lnTo>
                  <a:lnTo>
                    <a:pt x="773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735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84565" y="3742313"/>
            <a:ext cx="3687350" cy="10287000"/>
            <a:chOff x="0" y="0"/>
            <a:chExt cx="971154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1154" cy="2709333"/>
            </a:xfrm>
            <a:custGeom>
              <a:avLst/>
              <a:gdLst/>
              <a:ahLst/>
              <a:cxnLst/>
              <a:rect l="l" t="t" r="r" b="b"/>
              <a:pathLst>
                <a:path w="971154" h="2709333">
                  <a:moveTo>
                    <a:pt x="0" y="0"/>
                  </a:moveTo>
                  <a:lnTo>
                    <a:pt x="971154" y="0"/>
                  </a:lnTo>
                  <a:lnTo>
                    <a:pt x="971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7115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97823" y="805267"/>
            <a:ext cx="5874092" cy="587409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 rot="-5400000">
            <a:off x="16541800" y="978498"/>
            <a:ext cx="851963" cy="1846271"/>
          </a:xfrm>
          <a:custGeom>
            <a:avLst/>
            <a:gdLst/>
            <a:ahLst/>
            <a:cxnLst/>
            <a:rect l="l" t="t" r="r" b="b"/>
            <a:pathLst>
              <a:path w="851963" h="1846271">
                <a:moveTo>
                  <a:pt x="0" y="0"/>
                </a:moveTo>
                <a:lnTo>
                  <a:pt x="851964" y="0"/>
                </a:lnTo>
                <a:lnTo>
                  <a:pt x="851964" y="1846271"/>
                </a:lnTo>
                <a:lnTo>
                  <a:pt x="0" y="184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1065" y="818727"/>
            <a:ext cx="988600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2: Cơ sở lý thuyết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065" y="2699090"/>
            <a:ext cx="9886002" cy="6796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JetBrains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Rider – IDE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mạnh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C#, Unity, .NET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triển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bởi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JetBrains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– top 100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ty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mềm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lập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trình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C#, .NET, Unity, ASP.NET, Unity Engine,...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nền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chạy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Windows,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macOS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Linux.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Tính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nổi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1252215" lvl="2" indent="-417405" algn="just">
              <a:lnSpc>
                <a:spcPts val="4494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ý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lỗi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minh.</a:t>
            </a: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52215" lvl="2" indent="-417405" algn="just">
              <a:lnSpc>
                <a:spcPts val="4494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Gỡ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lỗi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mạnh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phân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tích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chuyên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sâu</a:t>
            </a:r>
            <a:r>
              <a:rPr lang="en-US" sz="2899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52215" lvl="2" indent="-417405" algn="just">
              <a:lnSpc>
                <a:spcPts val="4494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Tích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ReSharper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Git</a:t>
            </a:r>
            <a:r>
              <a:rPr lang="en-US" sz="2899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52215" lvl="2" indent="-417405" algn="just">
              <a:lnSpc>
                <a:spcPts val="4494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diện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thân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thiện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cao</a:t>
            </a:r>
            <a:r>
              <a:rPr lang="en-US" sz="2899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52215" lvl="2" indent="-417405" algn="just">
              <a:lnSpc>
                <a:spcPts val="4494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phiên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miễn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tập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dự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nhân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just">
              <a:lnSpc>
                <a:spcPts val="347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97823" y="0"/>
            <a:ext cx="2937046" cy="10287000"/>
            <a:chOff x="0" y="0"/>
            <a:chExt cx="773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543" cy="2709333"/>
            </a:xfrm>
            <a:custGeom>
              <a:avLst/>
              <a:gdLst/>
              <a:ahLst/>
              <a:cxnLst/>
              <a:rect l="l" t="t" r="r" b="b"/>
              <a:pathLst>
                <a:path w="773543" h="2709333">
                  <a:moveTo>
                    <a:pt x="0" y="0"/>
                  </a:moveTo>
                  <a:lnTo>
                    <a:pt x="773543" y="0"/>
                  </a:lnTo>
                  <a:lnTo>
                    <a:pt x="773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735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84565" y="3742313"/>
            <a:ext cx="3687350" cy="10287000"/>
            <a:chOff x="0" y="0"/>
            <a:chExt cx="971154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1154" cy="2709333"/>
            </a:xfrm>
            <a:custGeom>
              <a:avLst/>
              <a:gdLst/>
              <a:ahLst/>
              <a:cxnLst/>
              <a:rect l="l" t="t" r="r" b="b"/>
              <a:pathLst>
                <a:path w="971154" h="2709333">
                  <a:moveTo>
                    <a:pt x="0" y="0"/>
                  </a:moveTo>
                  <a:lnTo>
                    <a:pt x="971154" y="0"/>
                  </a:lnTo>
                  <a:lnTo>
                    <a:pt x="971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7115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97823" y="805267"/>
            <a:ext cx="5257259" cy="525725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t="-4014" r="-92161" b="-4316"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 rot="-5400000">
            <a:off x="16541800" y="978498"/>
            <a:ext cx="851963" cy="1846271"/>
          </a:xfrm>
          <a:custGeom>
            <a:avLst/>
            <a:gdLst/>
            <a:ahLst/>
            <a:cxnLst/>
            <a:rect l="l" t="t" r="r" b="b"/>
            <a:pathLst>
              <a:path w="851963" h="1846271">
                <a:moveTo>
                  <a:pt x="0" y="0"/>
                </a:moveTo>
                <a:lnTo>
                  <a:pt x="851964" y="0"/>
                </a:lnTo>
                <a:lnTo>
                  <a:pt x="851964" y="1846271"/>
                </a:lnTo>
                <a:lnTo>
                  <a:pt x="0" y="184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666974" y="6062526"/>
            <a:ext cx="4688278" cy="3952576"/>
          </a:xfrm>
          <a:custGeom>
            <a:avLst/>
            <a:gdLst/>
            <a:ahLst/>
            <a:cxnLst/>
            <a:rect l="l" t="t" r="r" b="b"/>
            <a:pathLst>
              <a:path w="4688278" h="3952576">
                <a:moveTo>
                  <a:pt x="0" y="0"/>
                </a:moveTo>
                <a:lnTo>
                  <a:pt x="4688278" y="0"/>
                </a:lnTo>
                <a:lnTo>
                  <a:pt x="4688278" y="3952577"/>
                </a:lnTo>
                <a:lnTo>
                  <a:pt x="0" y="3952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4122" r="-1366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1065" y="1898990"/>
            <a:ext cx="807840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2.3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Ngôn</a:t>
            </a: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ngữ</a:t>
            </a: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C#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065" y="2699090"/>
            <a:ext cx="9886002" cy="383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Do Microsoft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triển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dẫn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xuất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C/C++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nhưng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(OOP):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thừa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trừu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đóng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gói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hình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ngoại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lệ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nhớ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bảo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nguồn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khóa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cú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rõ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ràng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tiếp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cận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just">
              <a:lnSpc>
                <a:spcPts val="347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97823" y="0"/>
            <a:ext cx="2937046" cy="10287000"/>
            <a:chOff x="0" y="0"/>
            <a:chExt cx="773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3543" cy="2709333"/>
            </a:xfrm>
            <a:custGeom>
              <a:avLst/>
              <a:gdLst/>
              <a:ahLst/>
              <a:cxnLst/>
              <a:rect l="l" t="t" r="r" b="b"/>
              <a:pathLst>
                <a:path w="773543" h="2709333">
                  <a:moveTo>
                    <a:pt x="0" y="0"/>
                  </a:moveTo>
                  <a:lnTo>
                    <a:pt x="773543" y="0"/>
                  </a:lnTo>
                  <a:lnTo>
                    <a:pt x="773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7354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84565" y="3742313"/>
            <a:ext cx="3687350" cy="10287000"/>
            <a:chOff x="0" y="0"/>
            <a:chExt cx="971154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1154" cy="2709333"/>
            </a:xfrm>
            <a:custGeom>
              <a:avLst/>
              <a:gdLst/>
              <a:ahLst/>
              <a:cxnLst/>
              <a:rect l="l" t="t" r="r" b="b"/>
              <a:pathLst>
                <a:path w="971154" h="2709333">
                  <a:moveTo>
                    <a:pt x="0" y="0"/>
                  </a:moveTo>
                  <a:lnTo>
                    <a:pt x="971154" y="0"/>
                  </a:lnTo>
                  <a:lnTo>
                    <a:pt x="971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7115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197823" y="805267"/>
            <a:ext cx="5257259" cy="525725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t="-4014" r="-92161" b="-4316"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 rot="-5400000">
            <a:off x="16541800" y="978498"/>
            <a:ext cx="851963" cy="1846271"/>
          </a:xfrm>
          <a:custGeom>
            <a:avLst/>
            <a:gdLst/>
            <a:ahLst/>
            <a:cxnLst/>
            <a:rect l="l" t="t" r="r" b="b"/>
            <a:pathLst>
              <a:path w="851963" h="1846271">
                <a:moveTo>
                  <a:pt x="0" y="0"/>
                </a:moveTo>
                <a:lnTo>
                  <a:pt x="851964" y="0"/>
                </a:lnTo>
                <a:lnTo>
                  <a:pt x="851964" y="1846271"/>
                </a:lnTo>
                <a:lnTo>
                  <a:pt x="0" y="184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666974" y="6062526"/>
            <a:ext cx="4688278" cy="3952576"/>
          </a:xfrm>
          <a:custGeom>
            <a:avLst/>
            <a:gdLst/>
            <a:ahLst/>
            <a:cxnLst/>
            <a:rect l="l" t="t" r="r" b="b"/>
            <a:pathLst>
              <a:path w="4688278" h="3952576">
                <a:moveTo>
                  <a:pt x="0" y="0"/>
                </a:moveTo>
                <a:lnTo>
                  <a:pt x="4688278" y="0"/>
                </a:lnTo>
                <a:lnTo>
                  <a:pt x="4688278" y="3952577"/>
                </a:lnTo>
                <a:lnTo>
                  <a:pt x="0" y="3952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4122" r="-1366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1065" y="1898990"/>
            <a:ext cx="807840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2.3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plugin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và</a:t>
            </a: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package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hỗ</a:t>
            </a:r>
            <a:r>
              <a:rPr lang="en-US" sz="29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9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trợ</a:t>
            </a:r>
            <a:endParaRPr lang="en-US" sz="2999" b="1" dirty="0">
              <a:solidFill>
                <a:srgbClr val="123586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31065" y="2699090"/>
            <a:ext cx="9886002" cy="383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Do Microsoft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triển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dẫn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xuất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C/C++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nhưng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(OOP):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thừa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trừu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đóng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gói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hình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ngoại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lệ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nhớ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bảo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nguồn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7" lvl="1" indent="-313054" algn="just">
              <a:lnSpc>
                <a:spcPts val="4494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khóa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cú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rõ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ràng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tiếp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cận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just">
              <a:lnSpc>
                <a:spcPts val="347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89766" y="1958622"/>
            <a:ext cx="8311835" cy="9678993"/>
          </a:xfrm>
          <a:custGeom>
            <a:avLst/>
            <a:gdLst/>
            <a:ahLst/>
            <a:cxnLst/>
            <a:rect l="l" t="t" r="r" b="b"/>
            <a:pathLst>
              <a:path w="8311835" h="9678993">
                <a:moveTo>
                  <a:pt x="0" y="0"/>
                </a:moveTo>
                <a:lnTo>
                  <a:pt x="8311835" y="0"/>
                </a:lnTo>
                <a:lnTo>
                  <a:pt x="8311835" y="9678993"/>
                </a:lnTo>
                <a:lnTo>
                  <a:pt x="0" y="967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5591981" y="-1120065"/>
            <a:ext cx="8713765" cy="10147034"/>
          </a:xfrm>
          <a:custGeom>
            <a:avLst/>
            <a:gdLst/>
            <a:ahLst/>
            <a:cxnLst/>
            <a:rect l="l" t="t" r="r" b="b"/>
            <a:pathLst>
              <a:path w="8713765" h="10147034">
                <a:moveTo>
                  <a:pt x="8713765" y="10147034"/>
                </a:moveTo>
                <a:lnTo>
                  <a:pt x="0" y="10147034"/>
                </a:lnTo>
                <a:lnTo>
                  <a:pt x="0" y="0"/>
                </a:lnTo>
                <a:lnTo>
                  <a:pt x="8713765" y="0"/>
                </a:lnTo>
                <a:lnTo>
                  <a:pt x="8713765" y="1014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510997" y="308855"/>
            <a:ext cx="5835464" cy="583546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42875" cap="sq">
              <a:solidFill>
                <a:srgbClr val="517DED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rot="-10800000">
            <a:off x="4860860" y="7528370"/>
            <a:ext cx="798278" cy="1729930"/>
          </a:xfrm>
          <a:custGeom>
            <a:avLst/>
            <a:gdLst/>
            <a:ahLst/>
            <a:cxnLst/>
            <a:rect l="l" t="t" r="r" b="b"/>
            <a:pathLst>
              <a:path w="798278" h="1729930">
                <a:moveTo>
                  <a:pt x="0" y="0"/>
                </a:moveTo>
                <a:lnTo>
                  <a:pt x="798278" y="0"/>
                </a:lnTo>
                <a:lnTo>
                  <a:pt x="798278" y="1729930"/>
                </a:lnTo>
                <a:lnTo>
                  <a:pt x="0" y="1729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18174" y="1968147"/>
            <a:ext cx="835402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3.1 Tổng quan trò chơi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8174" y="2736471"/>
            <a:ext cx="9155965" cy="94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89"/>
              </a:lnSpc>
            </a:pP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Tên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game: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Traffic Master</a:t>
            </a:r>
          </a:p>
          <a:p>
            <a:pPr algn="just">
              <a:lnSpc>
                <a:spcPts val="3889"/>
              </a:lnSpc>
            </a:pP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Thể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loại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logic,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duy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chiến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thuật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18174" y="3857065"/>
            <a:ext cx="9155965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</a:pP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Mục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tiêu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trò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chơi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04095" lvl="1" indent="-302048" algn="just">
              <a:lnSpc>
                <a:spcPts val="3357"/>
              </a:lnSpc>
              <a:buFont typeface="Arial"/>
              <a:buChar char="•"/>
            </a:pP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Điều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ra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khỏi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đường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giới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hạn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04095" lvl="1" indent="-302048" algn="just">
              <a:lnSpc>
                <a:spcPts val="3357"/>
              </a:lnSpc>
              <a:buFont typeface="Arial"/>
              <a:buChar char="•"/>
            </a:pP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Càng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lên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level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cao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→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càng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tính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toán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logic,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chiến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thuật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just">
              <a:lnSpc>
                <a:spcPts val="3357"/>
              </a:lnSpc>
            </a:pP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88137" y="695039"/>
            <a:ext cx="988600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3: Thiết kế trò chơi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8174" y="5888260"/>
            <a:ext cx="9155965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</a:pP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Ý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tưởng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cốt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798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lõi</a:t>
            </a:r>
            <a:r>
              <a:rPr lang="en-US" sz="2798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04095" lvl="1" indent="-302048" algn="just">
              <a:lnSpc>
                <a:spcPts val="3357"/>
              </a:lnSpc>
              <a:buFont typeface="Arial"/>
              <a:buChar char="•"/>
            </a:pP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vào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vai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điều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phối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giao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thông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04095" lvl="1" indent="-302048" algn="just">
              <a:lnSpc>
                <a:spcPts val="3357"/>
              </a:lnSpc>
              <a:buFont typeface="Arial"/>
              <a:buChar char="•"/>
            </a:pP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thoát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khỏi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tình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trạng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ùn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tắc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04095" lvl="1" indent="-302048" algn="just">
              <a:lnSpc>
                <a:spcPts val="3357"/>
              </a:lnSpc>
              <a:buFont typeface="Arial"/>
              <a:buChar char="•"/>
            </a:pP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trí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nhẹ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nhàng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rèn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luyện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duy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quan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sát</a:t>
            </a:r>
            <a:r>
              <a:rPr lang="en-US" sz="2798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8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nhanh</a:t>
            </a:r>
            <a:r>
              <a:rPr lang="en-US" sz="2798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just">
              <a:lnSpc>
                <a:spcPts val="3357"/>
              </a:lnSpc>
            </a:pPr>
            <a:endParaRPr lang="en-US" sz="2798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09811" y="1902494"/>
            <a:ext cx="8311835" cy="9678993"/>
          </a:xfrm>
          <a:custGeom>
            <a:avLst/>
            <a:gdLst/>
            <a:ahLst/>
            <a:cxnLst/>
            <a:rect l="l" t="t" r="r" b="b"/>
            <a:pathLst>
              <a:path w="8311835" h="9678993">
                <a:moveTo>
                  <a:pt x="0" y="0"/>
                </a:moveTo>
                <a:lnTo>
                  <a:pt x="8311836" y="0"/>
                </a:lnTo>
                <a:lnTo>
                  <a:pt x="8311836" y="9678993"/>
                </a:lnTo>
                <a:lnTo>
                  <a:pt x="0" y="967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5591981" y="-1120065"/>
            <a:ext cx="8713765" cy="10147034"/>
          </a:xfrm>
          <a:custGeom>
            <a:avLst/>
            <a:gdLst/>
            <a:ahLst/>
            <a:cxnLst/>
            <a:rect l="l" t="t" r="r" b="b"/>
            <a:pathLst>
              <a:path w="8713765" h="10147034">
                <a:moveTo>
                  <a:pt x="8713765" y="10147034"/>
                </a:moveTo>
                <a:lnTo>
                  <a:pt x="0" y="10147034"/>
                </a:lnTo>
                <a:lnTo>
                  <a:pt x="0" y="0"/>
                </a:lnTo>
                <a:lnTo>
                  <a:pt x="8713765" y="0"/>
                </a:lnTo>
                <a:lnTo>
                  <a:pt x="8713765" y="1014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0800000">
            <a:off x="4860860" y="7528370"/>
            <a:ext cx="798278" cy="1729930"/>
          </a:xfrm>
          <a:custGeom>
            <a:avLst/>
            <a:gdLst/>
            <a:ahLst/>
            <a:cxnLst/>
            <a:rect l="l" t="t" r="r" b="b"/>
            <a:pathLst>
              <a:path w="798278" h="1729930">
                <a:moveTo>
                  <a:pt x="0" y="0"/>
                </a:moveTo>
                <a:lnTo>
                  <a:pt x="798278" y="0"/>
                </a:lnTo>
                <a:lnTo>
                  <a:pt x="798278" y="1729930"/>
                </a:lnTo>
                <a:lnTo>
                  <a:pt x="0" y="172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65085" y="346260"/>
            <a:ext cx="9780436" cy="9353920"/>
          </a:xfrm>
          <a:custGeom>
            <a:avLst/>
            <a:gdLst/>
            <a:ahLst/>
            <a:cxnLst/>
            <a:rect l="l" t="t" r="r" b="b"/>
            <a:pathLst>
              <a:path w="9780436" h="9353920">
                <a:moveTo>
                  <a:pt x="0" y="0"/>
                </a:moveTo>
                <a:lnTo>
                  <a:pt x="9780436" y="0"/>
                </a:lnTo>
                <a:lnTo>
                  <a:pt x="9780436" y="9353920"/>
                </a:lnTo>
                <a:lnTo>
                  <a:pt x="0" y="9353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42925"/>
            <a:ext cx="4630438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3.2 Sơ đồ luồng chính của trò chơi Traffic Master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81050"/>
            <a:ext cx="549630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3.3 Cơ chế trò chơi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3453" y="1472931"/>
            <a:ext cx="5773039" cy="745552"/>
            <a:chOff x="0" y="0"/>
            <a:chExt cx="314687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46879" cy="406400"/>
            </a:xfrm>
            <a:custGeom>
              <a:avLst/>
              <a:gdLst/>
              <a:ahLst/>
              <a:cxnLst/>
              <a:rect l="l" t="t" r="r" b="b"/>
              <a:pathLst>
                <a:path w="3146879" h="406400">
                  <a:moveTo>
                    <a:pt x="294367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943679" y="406400"/>
                  </a:lnTo>
                  <a:lnTo>
                    <a:pt x="3146879" y="203200"/>
                  </a:lnTo>
                  <a:lnTo>
                    <a:pt x="2943679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52400" y="-38100"/>
              <a:ext cx="2842079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19842" y="1507459"/>
            <a:ext cx="5385823" cy="695546"/>
            <a:chOff x="0" y="0"/>
            <a:chExt cx="314687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46879" cy="406400"/>
            </a:xfrm>
            <a:custGeom>
              <a:avLst/>
              <a:gdLst/>
              <a:ahLst/>
              <a:cxnLst/>
              <a:rect l="l" t="t" r="r" b="b"/>
              <a:pathLst>
                <a:path w="3146879" h="406400">
                  <a:moveTo>
                    <a:pt x="294367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943679" y="406400"/>
                  </a:lnTo>
                  <a:lnTo>
                    <a:pt x="3146879" y="203200"/>
                  </a:lnTo>
                  <a:lnTo>
                    <a:pt x="2943679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52400" y="-38100"/>
              <a:ext cx="2842079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20510" y="1521637"/>
            <a:ext cx="5166251" cy="667189"/>
            <a:chOff x="0" y="0"/>
            <a:chExt cx="314687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46879" cy="406400"/>
            </a:xfrm>
            <a:custGeom>
              <a:avLst/>
              <a:gdLst/>
              <a:ahLst/>
              <a:cxnLst/>
              <a:rect l="l" t="t" r="r" b="b"/>
              <a:pathLst>
                <a:path w="3146879" h="406400">
                  <a:moveTo>
                    <a:pt x="294367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2943679" y="406400"/>
                  </a:lnTo>
                  <a:lnTo>
                    <a:pt x="3146879" y="203200"/>
                  </a:lnTo>
                  <a:lnTo>
                    <a:pt x="2943679" y="0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52400" y="-38100"/>
              <a:ext cx="2842079" cy="444500"/>
            </a:xfrm>
            <a:prstGeom prst="rect">
              <a:avLst/>
            </a:prstGeom>
          </p:spPr>
          <p:txBody>
            <a:bodyPr lIns="49499" tIns="49499" rIns="49499" bIns="49499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74981" y="5956369"/>
            <a:ext cx="7062428" cy="5084948"/>
          </a:xfrm>
          <a:custGeom>
            <a:avLst/>
            <a:gdLst/>
            <a:ahLst/>
            <a:cxnLst/>
            <a:rect l="l" t="t" r="r" b="b"/>
            <a:pathLst>
              <a:path w="7062428" h="5084948">
                <a:moveTo>
                  <a:pt x="0" y="0"/>
                </a:moveTo>
                <a:lnTo>
                  <a:pt x="7062428" y="0"/>
                </a:lnTo>
                <a:lnTo>
                  <a:pt x="7062428" y="5084948"/>
                </a:lnTo>
                <a:lnTo>
                  <a:pt x="0" y="5084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88063">
            <a:off x="16044629" y="7994375"/>
            <a:ext cx="2429341" cy="1790627"/>
          </a:xfrm>
          <a:custGeom>
            <a:avLst/>
            <a:gdLst/>
            <a:ahLst/>
            <a:cxnLst/>
            <a:rect l="l" t="t" r="r" b="b"/>
            <a:pathLst>
              <a:path w="2429341" h="1790627">
                <a:moveTo>
                  <a:pt x="0" y="0"/>
                </a:moveTo>
                <a:lnTo>
                  <a:pt x="2429342" y="0"/>
                </a:lnTo>
                <a:lnTo>
                  <a:pt x="2429342" y="1790627"/>
                </a:lnTo>
                <a:lnTo>
                  <a:pt x="0" y="1790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64091" y="2476272"/>
            <a:ext cx="6122401" cy="650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điều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phối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giao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thông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đưa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thoát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khỏi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ùn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tắc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giới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hạn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Tránh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va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chạm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bồn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v.v.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Xử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phạt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1206011" lvl="2" indent="-402004" algn="just">
              <a:lnSpc>
                <a:spcPts val="3351"/>
              </a:lnSpc>
              <a:buFont typeface="Arial"/>
              <a:buChar char="⚬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Vượt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đèn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đỏ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trừ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2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lượt</a:t>
            </a:r>
            <a:endParaRPr lang="en-US" sz="2792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06011" lvl="2" indent="-402004" algn="just">
              <a:lnSpc>
                <a:spcPts val="3351"/>
              </a:lnSpc>
              <a:buFont typeface="Arial"/>
              <a:buChar char="⚬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Vượt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đèn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trừ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1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lượt</a:t>
            </a:r>
            <a:endParaRPr lang="en-US" sz="2792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1206011" lvl="2" indent="-402004" algn="just">
              <a:lnSpc>
                <a:spcPts val="3351"/>
              </a:lnSpc>
              <a:buFont typeface="Arial"/>
              <a:buChar char="⚬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Đâm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vào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bồn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/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thua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lại</a:t>
            </a:r>
            <a:endParaRPr lang="en-US" sz="2792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thể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booster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qua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màn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khó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định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sẵn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Trái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–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Phải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–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Lên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–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Xuống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+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một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kết</a:t>
            </a:r>
            <a:r>
              <a:rPr lang="en-US" sz="279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79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hợp</a:t>
            </a:r>
            <a:r>
              <a:rPr lang="en-US" sz="279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792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just">
              <a:lnSpc>
                <a:spcPts val="3351"/>
              </a:lnSpc>
            </a:pPr>
            <a:endParaRPr lang="en-US" sz="2792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68161" y="1659970"/>
            <a:ext cx="46399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575" b="1">
                <a:solidFill>
                  <a:srgbClr val="FFFFFF"/>
                </a:solidFill>
                <a:latin typeface="Faustina Bold"/>
                <a:ea typeface="Faustina Bold"/>
                <a:cs typeface="Faustina Bold"/>
                <a:sym typeface="Faustina Bold"/>
              </a:rPr>
              <a:t>Luật chơi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4267" y="2476272"/>
            <a:ext cx="4663623" cy="376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Thành phố hiện đại, đang kẹt xe nghiêm trọng.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Game theo dạng bản đồ lưới – mỗi ô là một đoạn đường.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 thể triển khai đèn tín hiệu, người đi bộ để tăng độ chân thật và chiến thuật.</a:t>
            </a:r>
          </a:p>
          <a:p>
            <a:pPr algn="just">
              <a:lnSpc>
                <a:spcPts val="3351"/>
              </a:lnSpc>
            </a:pPr>
            <a:endParaRPr lang="en-US" sz="2792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595677" y="2476272"/>
            <a:ext cx="5091083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Vàng là đơn vị tiền tệ chính.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 để mua skin &amp; booster.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Vàng nhận được = Số xe trong màn * 10</a:t>
            </a:r>
          </a:p>
          <a:p>
            <a:pPr marL="603005" lvl="1" indent="-301503" algn="just">
              <a:lnSpc>
                <a:spcPts val="3351"/>
              </a:lnSpc>
              <a:buFont typeface="Arial"/>
              <a:buChar char="•"/>
            </a:pPr>
            <a:r>
              <a:rPr lang="en-US" sz="2792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→ Khuyến khích chơi màn khó để nhận thưởng cao.</a:t>
            </a:r>
          </a:p>
          <a:p>
            <a:pPr algn="just">
              <a:lnSpc>
                <a:spcPts val="3351"/>
              </a:lnSpc>
            </a:pPr>
            <a:endParaRPr lang="en-US" sz="2792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119842" y="1669495"/>
            <a:ext cx="446309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575" b="1">
                <a:solidFill>
                  <a:srgbClr val="FFFFFF"/>
                </a:solidFill>
                <a:latin typeface="Faustina Bold"/>
                <a:ea typeface="Faustina Bold"/>
                <a:cs typeface="Faustina Bold"/>
                <a:sym typeface="Faustina Bold"/>
              </a:rPr>
              <a:t>Bối cảnh</a:t>
            </a:r>
          </a:p>
        </p:txBody>
      </p:sp>
      <p:sp>
        <p:nvSpPr>
          <p:cNvPr id="25" name="Freeform 25"/>
          <p:cNvSpPr/>
          <p:nvPr/>
        </p:nvSpPr>
        <p:spPr>
          <a:xfrm flipV="1">
            <a:off x="-4351592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TextBox 27"/>
          <p:cNvSpPr txBox="1"/>
          <p:nvPr/>
        </p:nvSpPr>
        <p:spPr>
          <a:xfrm>
            <a:off x="12520510" y="1669495"/>
            <a:ext cx="446309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575" b="1">
                <a:solidFill>
                  <a:srgbClr val="FFFFFF"/>
                </a:solidFill>
                <a:latin typeface="Faustina Bold"/>
                <a:ea typeface="Faustina Bold"/>
                <a:cs typeface="Faustina Bold"/>
                <a:sym typeface="Faustina Bold"/>
              </a:rPr>
              <a:t>Cơ chế kinh tế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22" grpId="0"/>
      <p:bldP spid="23" grpId="0"/>
      <p:bldP spid="24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20417" y="9231307"/>
            <a:ext cx="851963" cy="1846271"/>
          </a:xfrm>
          <a:custGeom>
            <a:avLst/>
            <a:gdLst/>
            <a:ahLst/>
            <a:cxnLst/>
            <a:rect l="l" t="t" r="r" b="b"/>
            <a:pathLst>
              <a:path w="851963" h="1846271">
                <a:moveTo>
                  <a:pt x="0" y="0"/>
                </a:moveTo>
                <a:lnTo>
                  <a:pt x="851963" y="0"/>
                </a:lnTo>
                <a:lnTo>
                  <a:pt x="851963" y="1846271"/>
                </a:lnTo>
                <a:lnTo>
                  <a:pt x="0" y="1846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24495" r="-3681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43190" y="2361817"/>
            <a:ext cx="2916110" cy="5184953"/>
          </a:xfrm>
          <a:custGeom>
            <a:avLst/>
            <a:gdLst/>
            <a:ahLst/>
            <a:cxnLst/>
            <a:rect l="l" t="t" r="r" b="b"/>
            <a:pathLst>
              <a:path w="2916110" h="5184953">
                <a:moveTo>
                  <a:pt x="0" y="0"/>
                </a:moveTo>
                <a:lnTo>
                  <a:pt x="2916110" y="0"/>
                </a:lnTo>
                <a:lnTo>
                  <a:pt x="2916110" y="5184953"/>
                </a:lnTo>
                <a:lnTo>
                  <a:pt x="0" y="5184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9570" y="2411792"/>
            <a:ext cx="2871114" cy="5106079"/>
          </a:xfrm>
          <a:custGeom>
            <a:avLst/>
            <a:gdLst/>
            <a:ahLst/>
            <a:cxnLst/>
            <a:rect l="l" t="t" r="r" b="b"/>
            <a:pathLst>
              <a:path w="2871114" h="5106079">
                <a:moveTo>
                  <a:pt x="0" y="0"/>
                </a:moveTo>
                <a:lnTo>
                  <a:pt x="2871114" y="0"/>
                </a:lnTo>
                <a:lnTo>
                  <a:pt x="2871114" y="5106079"/>
                </a:lnTo>
                <a:lnTo>
                  <a:pt x="0" y="5106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329213" y="2390715"/>
            <a:ext cx="2889337" cy="5127157"/>
          </a:xfrm>
          <a:custGeom>
            <a:avLst/>
            <a:gdLst/>
            <a:ahLst/>
            <a:cxnLst/>
            <a:rect l="l" t="t" r="r" b="b"/>
            <a:pathLst>
              <a:path w="2889337" h="5127157">
                <a:moveTo>
                  <a:pt x="0" y="0"/>
                </a:moveTo>
                <a:lnTo>
                  <a:pt x="2889336" y="0"/>
                </a:lnTo>
                <a:lnTo>
                  <a:pt x="2889336" y="5127156"/>
                </a:lnTo>
                <a:lnTo>
                  <a:pt x="0" y="5127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71423" y="2411792"/>
            <a:ext cx="2874994" cy="5106079"/>
          </a:xfrm>
          <a:custGeom>
            <a:avLst/>
            <a:gdLst/>
            <a:ahLst/>
            <a:cxnLst/>
            <a:rect l="l" t="t" r="r" b="b"/>
            <a:pathLst>
              <a:path w="2874994" h="5106079">
                <a:moveTo>
                  <a:pt x="0" y="0"/>
                </a:moveTo>
                <a:lnTo>
                  <a:pt x="2874994" y="0"/>
                </a:lnTo>
                <a:lnTo>
                  <a:pt x="2874994" y="5106079"/>
                </a:lnTo>
                <a:lnTo>
                  <a:pt x="0" y="51060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03617" y="2411792"/>
            <a:ext cx="2882373" cy="5106079"/>
          </a:xfrm>
          <a:custGeom>
            <a:avLst/>
            <a:gdLst/>
            <a:ahLst/>
            <a:cxnLst/>
            <a:rect l="l" t="t" r="r" b="b"/>
            <a:pathLst>
              <a:path w="2882373" h="5106079">
                <a:moveTo>
                  <a:pt x="0" y="0"/>
                </a:moveTo>
                <a:lnTo>
                  <a:pt x="2882373" y="0"/>
                </a:lnTo>
                <a:lnTo>
                  <a:pt x="2882373" y="5106079"/>
                </a:lnTo>
                <a:lnTo>
                  <a:pt x="0" y="5106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54999" y="1057275"/>
            <a:ext cx="5379679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 Thiết kế giao diện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2841" y="7831885"/>
            <a:ext cx="216124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3.4.1 UI 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44839" y="7838870"/>
            <a:ext cx="216124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3.4.2 UI 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3722" y="7860460"/>
            <a:ext cx="3090396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99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3.4.3 Ui Splash scene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74266" y="7836962"/>
            <a:ext cx="3141074" cy="40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845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3.4.4 Ui game play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43190" y="7857920"/>
            <a:ext cx="3141074" cy="801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845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3.4.5 Ui vòng quay may mắn</a:t>
            </a:r>
          </a:p>
        </p:txBody>
      </p:sp>
      <p:sp>
        <p:nvSpPr>
          <p:cNvPr id="14" name="Freeform 14"/>
          <p:cNvSpPr/>
          <p:nvPr/>
        </p:nvSpPr>
        <p:spPr>
          <a:xfrm flipV="1">
            <a:off x="-4351592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-4351592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2953269" y="1742874"/>
            <a:ext cx="3636780" cy="3400626"/>
          </a:xfrm>
          <a:custGeom>
            <a:avLst/>
            <a:gdLst/>
            <a:ahLst/>
            <a:cxnLst/>
            <a:rect l="l" t="t" r="r" b="b"/>
            <a:pathLst>
              <a:path w="3636780" h="3400626">
                <a:moveTo>
                  <a:pt x="0" y="0"/>
                </a:moveTo>
                <a:lnTo>
                  <a:pt x="3636780" y="0"/>
                </a:lnTo>
                <a:lnTo>
                  <a:pt x="3636780" y="3400626"/>
                </a:lnTo>
                <a:lnTo>
                  <a:pt x="0" y="340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569698" y="5567146"/>
            <a:ext cx="6403921" cy="2831078"/>
          </a:xfrm>
          <a:custGeom>
            <a:avLst/>
            <a:gdLst/>
            <a:ahLst/>
            <a:cxnLst/>
            <a:rect l="l" t="t" r="r" b="b"/>
            <a:pathLst>
              <a:path w="6403921" h="2831078">
                <a:moveTo>
                  <a:pt x="0" y="0"/>
                </a:moveTo>
                <a:lnTo>
                  <a:pt x="6403921" y="0"/>
                </a:lnTo>
                <a:lnTo>
                  <a:pt x="6403921" y="2831078"/>
                </a:lnTo>
                <a:lnTo>
                  <a:pt x="0" y="2831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932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97476" y="3208439"/>
            <a:ext cx="9519868" cy="656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Vấn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đề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Draw Call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lệnh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CPU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gửi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đến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GPU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quá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nhiều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chậm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nhất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mobile.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ô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tô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nếu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chung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material,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draw call,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gây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lag,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FPS.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Khởi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–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hủy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liên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tục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sinh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rác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nhớ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(Garbage Collection)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gây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đoạn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3479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Giải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pháp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kỹ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thuật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Tắt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đổ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bóng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(shadow)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draw call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đáng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GPU Instancing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giống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nhau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(ô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tô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cùng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).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Static Batching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tĩnh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đường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nền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...).</a:t>
            </a:r>
          </a:p>
          <a:p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Tắt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Cast Shadow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kiệm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GPU.</a:t>
            </a:r>
          </a:p>
          <a:p>
            <a:pPr algn="l">
              <a:lnSpc>
                <a:spcPts val="3479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78545" y="429568"/>
            <a:ext cx="9886002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4: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Giải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pháp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và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đóng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góp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nổi</a:t>
            </a:r>
            <a:r>
              <a:rPr lang="en-US" sz="5000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5000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bật</a:t>
            </a:r>
            <a:endParaRPr lang="en-US" sz="5000" b="1" dirty="0">
              <a:solidFill>
                <a:srgbClr val="123586"/>
              </a:solidFill>
              <a:latin typeface="Faustina Bold"/>
              <a:ea typeface="Faustina Bold"/>
              <a:cs typeface="Faustina Bold"/>
              <a:sym typeface="Fausti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97476" y="2698390"/>
            <a:ext cx="907973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4.1 Tối ưu draw call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-4417976" y="-320645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597476" y="1886433"/>
            <a:ext cx="9519868" cy="635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Vấn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đề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Việc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huỷ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nhiều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liên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tục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như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coin, particle,…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gây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1252208" lvl="2" indent="-417403" algn="l">
              <a:lnSpc>
                <a:spcPts val="4610"/>
              </a:lnSpc>
              <a:buFont typeface="Arial"/>
              <a:buChar char="⚬"/>
            </a:pP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Thu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gom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rác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(Garbage Collection)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kiểm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soát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1252208" lvl="2" indent="-417403" algn="l">
              <a:lnSpc>
                <a:spcPts val="4610"/>
              </a:lnSpc>
              <a:buFont typeface="Arial"/>
              <a:buChar char="⚬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lag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cao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610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Giải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pháp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kỹ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thuật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sẵn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một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danh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sách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đầu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rỗi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mới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Ẩn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pool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chờ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tái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610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842001" y="2358281"/>
            <a:ext cx="6588554" cy="4935056"/>
          </a:xfrm>
          <a:custGeom>
            <a:avLst/>
            <a:gdLst/>
            <a:ahLst/>
            <a:cxnLst/>
            <a:rect l="l" t="t" r="r" b="b"/>
            <a:pathLst>
              <a:path w="6588554" h="4935056">
                <a:moveTo>
                  <a:pt x="0" y="0"/>
                </a:moveTo>
                <a:lnTo>
                  <a:pt x="6588554" y="0"/>
                </a:lnTo>
                <a:lnTo>
                  <a:pt x="6588554" y="4935057"/>
                </a:lnTo>
                <a:lnTo>
                  <a:pt x="0" y="4935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97476" y="1337519"/>
            <a:ext cx="907973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4.2 Áp dụng kỹ thuật Object Pooling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-4417976" y="-320645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597476" y="1886433"/>
            <a:ext cx="9519868" cy="635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Âm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thanh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dung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file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bằng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tùy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chọn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"Force to Mono"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Inspector.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Âm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thanh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chỉ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còn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1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kênh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thay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vì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2,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kích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thước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file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đáng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→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nhanh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kiệm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nhớ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610"/>
              </a:lnSpc>
            </a:pP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Hình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 </a:t>
            </a:r>
            <a:r>
              <a:rPr lang="en-US" sz="2899" b="1" dirty="0" err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ảnh</a:t>
            </a:r>
            <a:r>
              <a:rPr lang="en-US" sz="2899" b="1" dirty="0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: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Dùng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Sprite Atlas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gom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nhiều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sprite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thành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một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texture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duy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nhất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số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hình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(draw call),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tăng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suất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hiển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thị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dung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tổng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610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1602849" y="2083791"/>
            <a:ext cx="5989673" cy="5332755"/>
          </a:xfrm>
          <a:custGeom>
            <a:avLst/>
            <a:gdLst/>
            <a:ahLst/>
            <a:cxnLst/>
            <a:rect l="l" t="t" r="r" b="b"/>
            <a:pathLst>
              <a:path w="5989673" h="5332755">
                <a:moveTo>
                  <a:pt x="0" y="0"/>
                </a:moveTo>
                <a:lnTo>
                  <a:pt x="5989673" y="0"/>
                </a:lnTo>
                <a:lnTo>
                  <a:pt x="5989673" y="5332756"/>
                </a:lnTo>
                <a:lnTo>
                  <a:pt x="0" y="5332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92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97476" y="1337519"/>
            <a:ext cx="907973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4.3 Tối ưu âm thanh và hình ảnh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50078"/>
            <a:ext cx="18288000" cy="436922"/>
            <a:chOff x="0" y="0"/>
            <a:chExt cx="4816593" cy="115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5074"/>
            </a:xfrm>
            <a:custGeom>
              <a:avLst/>
              <a:gdLst/>
              <a:ahLst/>
              <a:cxnLst/>
              <a:rect l="l" t="t" r="r" b="b"/>
              <a:pathLst>
                <a:path w="4816592" h="115074">
                  <a:moveTo>
                    <a:pt x="0" y="0"/>
                  </a:moveTo>
                  <a:lnTo>
                    <a:pt x="4816592" y="0"/>
                  </a:lnTo>
                  <a:lnTo>
                    <a:pt x="4816592" y="115074"/>
                  </a:lnTo>
                  <a:lnTo>
                    <a:pt x="0" y="115074"/>
                  </a:lnTo>
                  <a:close/>
                </a:path>
              </a:pathLst>
            </a:custGeom>
            <a:solidFill>
              <a:srgbClr val="12358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53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068119"/>
            <a:ext cx="18288000" cy="218881"/>
            <a:chOff x="0" y="0"/>
            <a:chExt cx="4816593" cy="57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7648"/>
            </a:xfrm>
            <a:custGeom>
              <a:avLst/>
              <a:gdLst/>
              <a:ahLst/>
              <a:cxnLst/>
              <a:rect l="l" t="t" r="r" b="b"/>
              <a:pathLst>
                <a:path w="4816592" h="57648">
                  <a:moveTo>
                    <a:pt x="0" y="0"/>
                  </a:moveTo>
                  <a:lnTo>
                    <a:pt x="4816592" y="0"/>
                  </a:lnTo>
                  <a:lnTo>
                    <a:pt x="4816592" y="57648"/>
                  </a:lnTo>
                  <a:lnTo>
                    <a:pt x="0" y="57648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9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-4417976" y="-320645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0" y="6640813"/>
                </a:moveTo>
                <a:lnTo>
                  <a:pt x="6733397" y="6640813"/>
                </a:lnTo>
                <a:lnTo>
                  <a:pt x="6733397" y="0"/>
                </a:lnTo>
                <a:lnTo>
                  <a:pt x="0" y="0"/>
                </a:lnTo>
                <a:lnTo>
                  <a:pt x="0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flipH="1" flipV="1">
            <a:off x="15906195" y="-121493"/>
            <a:ext cx="6733397" cy="6640813"/>
          </a:xfrm>
          <a:custGeom>
            <a:avLst/>
            <a:gdLst/>
            <a:ahLst/>
            <a:cxnLst/>
            <a:rect l="l" t="t" r="r" b="b"/>
            <a:pathLst>
              <a:path w="6733397" h="6640813">
                <a:moveTo>
                  <a:pt x="6733397" y="6640813"/>
                </a:moveTo>
                <a:lnTo>
                  <a:pt x="0" y="6640813"/>
                </a:lnTo>
                <a:lnTo>
                  <a:pt x="0" y="0"/>
                </a:lnTo>
                <a:lnTo>
                  <a:pt x="6733397" y="0"/>
                </a:lnTo>
                <a:lnTo>
                  <a:pt x="6733397" y="6640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028700" y="2007457"/>
            <a:ext cx="9544032" cy="582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Traffic Master,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hệ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thống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Addressable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được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sử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dung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khởi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chạy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tiết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kiệm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nhớ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Hỗ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cập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nội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dung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xa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không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cần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cập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nhật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toàn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game.</a:t>
            </a:r>
          </a:p>
          <a:p>
            <a:pPr marL="626104" lvl="1" indent="-313052" algn="l">
              <a:lnSpc>
                <a:spcPts val="4610"/>
              </a:lnSpc>
              <a:buFont typeface="Arial"/>
              <a:buChar char="•"/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Quản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lý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theo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nhóm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kiểm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soát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build game.</a:t>
            </a:r>
          </a:p>
          <a:p>
            <a:pPr algn="l">
              <a:lnSpc>
                <a:spcPts val="4610"/>
              </a:lnSpc>
            </a:pP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Kết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quả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Game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nhẹ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load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nhanh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dễ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mở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rộng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nội</a:t>
            </a:r>
            <a:r>
              <a:rPr lang="en-US" sz="2899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99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dung.</a:t>
            </a: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l">
              <a:lnSpc>
                <a:spcPts val="4610"/>
              </a:lnSpc>
            </a:pPr>
            <a:endParaRPr lang="en-US" sz="2899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873878" y="1028700"/>
            <a:ext cx="7067960" cy="6811551"/>
          </a:xfrm>
          <a:custGeom>
            <a:avLst/>
            <a:gdLst/>
            <a:ahLst/>
            <a:cxnLst/>
            <a:rect l="l" t="t" r="r" b="b"/>
            <a:pathLst>
              <a:path w="7067960" h="6811551">
                <a:moveTo>
                  <a:pt x="0" y="0"/>
                </a:moveTo>
                <a:lnTo>
                  <a:pt x="7067960" y="0"/>
                </a:lnTo>
                <a:lnTo>
                  <a:pt x="7067960" y="6811551"/>
                </a:lnTo>
                <a:lnTo>
                  <a:pt x="0" y="6811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" r="-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97476" y="1337519"/>
            <a:ext cx="907973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4.4 Dùng addressable quản lý tài nguyên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9073" y="0"/>
            <a:ext cx="4395093" cy="10287000"/>
            <a:chOff x="0" y="0"/>
            <a:chExt cx="115755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555" cy="2709333"/>
            </a:xfrm>
            <a:custGeom>
              <a:avLst/>
              <a:gdLst/>
              <a:ahLst/>
              <a:cxnLst/>
              <a:rect l="l" t="t" r="r" b="b"/>
              <a:pathLst>
                <a:path w="1157555" h="2709333">
                  <a:moveTo>
                    <a:pt x="0" y="0"/>
                  </a:moveTo>
                  <a:lnTo>
                    <a:pt x="1157555" y="0"/>
                  </a:lnTo>
                  <a:lnTo>
                    <a:pt x="11575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755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6580" y="266700"/>
            <a:ext cx="110643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5: Cài đặt và triển khai hệ thống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6200" y="1407788"/>
            <a:ext cx="1106431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5.1 Môi trường phát triển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200" y="2150738"/>
            <a:ext cx="11064317" cy="259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Hệ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điều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hành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Windows 10 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IDE: Rider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Phiên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bản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Unity: Unity Editor 2022.3.37f </a:t>
            </a: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package: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DOTween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Addressables,Safe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Area,UI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Particle,UI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Rounded Corners...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6200" y="4933950"/>
            <a:ext cx="1106431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5.2 Kết quả thực nghiệm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6200" y="5676900"/>
            <a:ext cx="11064317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Game :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có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dung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lượng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69.04 </a:t>
            </a:r>
            <a:r>
              <a:rPr lang="en-US" sz="2900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MB.</a:t>
            </a: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FPS :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giữ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mức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ổn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định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ở 30Fps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trên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mobile.</a:t>
            </a: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SetPass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Calls : 20 =&gt;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ổn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so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mobile </a:t>
            </a:r>
            <a:r>
              <a:rPr lang="en-US" sz="2900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Batches : 37 =&gt;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thấp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tốt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marL="626111" lvl="1" indent="-313055" algn="l">
              <a:lnSpc>
                <a:spcPts val="4147"/>
              </a:lnSpc>
              <a:buFont typeface="Arial"/>
              <a:buChar char="•"/>
            </a:pP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Máy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test : Xiaomi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redmi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note 12 5G,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900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lập</a:t>
            </a:r>
            <a:r>
              <a:rPr lang="en-US" sz="2900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LD </a:t>
            </a:r>
            <a:r>
              <a:rPr lang="en-US" sz="2900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player.</a:t>
            </a: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algn="l">
              <a:lnSpc>
                <a:spcPts val="4147"/>
              </a:lnSpc>
            </a:pPr>
            <a:endParaRPr lang="en-US" sz="2900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9073" y="0"/>
            <a:ext cx="4395093" cy="10287000"/>
            <a:chOff x="0" y="0"/>
            <a:chExt cx="115755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555" cy="2709333"/>
            </a:xfrm>
            <a:custGeom>
              <a:avLst/>
              <a:gdLst/>
              <a:ahLst/>
              <a:cxnLst/>
              <a:rect l="l" t="t" r="r" b="b"/>
              <a:pathLst>
                <a:path w="1157555" h="2709333">
                  <a:moveTo>
                    <a:pt x="0" y="0"/>
                  </a:moveTo>
                  <a:lnTo>
                    <a:pt x="1157555" y="0"/>
                  </a:lnTo>
                  <a:lnTo>
                    <a:pt x="11575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755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6580" y="266700"/>
            <a:ext cx="1106431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Chương 6: Kết luận và hướng phát triển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5249" y="1907496"/>
            <a:ext cx="13346978" cy="717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801" lvl="1" indent="-305901" algn="l">
              <a:lnSpc>
                <a:spcPts val="4052"/>
              </a:lnSpc>
              <a:buFont typeface="Arial"/>
              <a:buChar char="•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Trong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quá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trình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thực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Traffic Master,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em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đã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Áp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dụng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kiến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thức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như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lập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trình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C#,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thiết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gameplay,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Hoàn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thành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các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chức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chính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bản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bằng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Object Pooling,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tải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bất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bộ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theo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dõi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năng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với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Unity Profiler.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Tạo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điểm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khác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biệt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như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đổi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màu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sân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linh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hoạt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mở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rộng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loại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xe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Tuy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nhiên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sản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phẩm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còn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chế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về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hiệu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ứng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âm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thanh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hình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ảnh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do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giới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thời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tài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nguyên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611801" lvl="1" indent="-305901" algn="l">
              <a:lnSpc>
                <a:spcPts val="4052"/>
              </a:lnSpc>
              <a:buFont typeface="Arial"/>
              <a:buChar char="•"/>
            </a:pP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Qua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đồ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em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được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: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Tối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ưu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hóa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từ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giai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đoạn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thiết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kế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Tự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học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công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nghệ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mới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(Addressable).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việc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độc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lập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,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giải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quyết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vấn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đề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hướng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tới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trải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nghiệm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chơi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Đây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là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cột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mốc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quan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trọng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giúp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em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tự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tin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trên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hành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trình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trở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thành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nhà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phát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triển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game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chuyên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33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nghiệp</a:t>
            </a:r>
            <a:r>
              <a:rPr lang="en-US" sz="2833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l">
              <a:lnSpc>
                <a:spcPts val="4052"/>
              </a:lnSpc>
            </a:pPr>
            <a:endParaRPr lang="en-US" sz="2833" dirty="0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0524" y="1269321"/>
            <a:ext cx="110643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6.1 Kết luận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9073" y="0"/>
            <a:ext cx="4395093" cy="10287000"/>
            <a:chOff x="0" y="0"/>
            <a:chExt cx="115755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7555" cy="2709333"/>
            </a:xfrm>
            <a:custGeom>
              <a:avLst/>
              <a:gdLst/>
              <a:ahLst/>
              <a:cxnLst/>
              <a:rect l="l" t="t" r="r" b="b"/>
              <a:pathLst>
                <a:path w="1157555" h="2709333">
                  <a:moveTo>
                    <a:pt x="0" y="0"/>
                  </a:moveTo>
                  <a:lnTo>
                    <a:pt x="1157555" y="0"/>
                  </a:lnTo>
                  <a:lnTo>
                    <a:pt x="11575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17D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5755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4480" y="2555987"/>
            <a:ext cx="13346978" cy="5117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801" lvl="1" indent="-305901" algn="l">
              <a:lnSpc>
                <a:spcPts val="4052"/>
              </a:lnSpc>
              <a:buFont typeface="Arial"/>
              <a:buChar char="•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Hoàn thiện chức năng hiện có: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Nâng cấp giao diện người dùng (UI): Thiết kế lại màn hình chính, shop, giao diện thắng/thua và hướng dẫn chơi với hình ảnh và hiệu ứng trực quan hơn.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Cải thiện âm thanh và hiệu ứng: Bổ sung hiệu ứng khi thắng/thua để tăng cảm xúc và trải nghiệm người chơi.</a:t>
            </a:r>
          </a:p>
          <a:p>
            <a:pPr marL="611801" lvl="1" indent="-305901" algn="l">
              <a:lnSpc>
                <a:spcPts val="4052"/>
              </a:lnSpc>
              <a:buFont typeface="Arial"/>
              <a:buChar char="•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Mở rộng nội dung gameplay: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Thêm phương tiện mới: xe máy, xe ủi, v.v.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Bổ sung chướng ngại vật như đá to, yêu cầu dùng xe phù hợp để vượt qua.</a:t>
            </a:r>
          </a:p>
          <a:p>
            <a:pPr marL="1223602" lvl="2" indent="-407867" algn="l">
              <a:lnSpc>
                <a:spcPts val="4052"/>
              </a:lnSpc>
              <a:buFont typeface="Arial"/>
              <a:buChar char="⚬"/>
            </a:pPr>
            <a:r>
              <a:rPr lang="en-US" sz="2833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Mở rộng hệ thống vật phẩm, nhiệm vụ hoặc chế độ chơi mới trong tương lai.</a:t>
            </a:r>
          </a:p>
          <a:p>
            <a:pPr algn="l">
              <a:lnSpc>
                <a:spcPts val="4052"/>
              </a:lnSpc>
            </a:pPr>
            <a:endParaRPr lang="en-US" sz="2833">
              <a:solidFill>
                <a:srgbClr val="123586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6677" y="1677780"/>
            <a:ext cx="110643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6.2 Hướng phát triển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8236" y="5642865"/>
            <a:ext cx="7460770" cy="74607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4" name="Freeform 4"/>
          <p:cNvSpPr/>
          <p:nvPr/>
        </p:nvSpPr>
        <p:spPr>
          <a:xfrm flipV="1">
            <a:off x="-5589639" y="-2192252"/>
            <a:ext cx="10192919" cy="9619567"/>
          </a:xfrm>
          <a:custGeom>
            <a:avLst/>
            <a:gdLst/>
            <a:ahLst/>
            <a:cxnLst/>
            <a:rect l="l" t="t" r="r" b="b"/>
            <a:pathLst>
              <a:path w="10192919" h="9619567">
                <a:moveTo>
                  <a:pt x="0" y="9619567"/>
                </a:moveTo>
                <a:lnTo>
                  <a:pt x="10192919" y="9619567"/>
                </a:lnTo>
                <a:lnTo>
                  <a:pt x="10192919" y="0"/>
                </a:lnTo>
                <a:lnTo>
                  <a:pt x="0" y="0"/>
                </a:lnTo>
                <a:lnTo>
                  <a:pt x="0" y="96195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3684720" y="2859685"/>
            <a:ext cx="10192919" cy="9619567"/>
          </a:xfrm>
          <a:custGeom>
            <a:avLst/>
            <a:gdLst/>
            <a:ahLst/>
            <a:cxnLst/>
            <a:rect l="l" t="t" r="r" b="b"/>
            <a:pathLst>
              <a:path w="10192919" h="9619567">
                <a:moveTo>
                  <a:pt x="10192919" y="0"/>
                </a:moveTo>
                <a:lnTo>
                  <a:pt x="0" y="0"/>
                </a:lnTo>
                <a:lnTo>
                  <a:pt x="0" y="9619567"/>
                </a:lnTo>
                <a:lnTo>
                  <a:pt x="10192919" y="9619567"/>
                </a:lnTo>
                <a:lnTo>
                  <a:pt x="1019291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3432907" y="-2355370"/>
            <a:ext cx="7460770" cy="74607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190500" cap="sq">
              <a:solidFill>
                <a:srgbClr val="123586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3668280" y="3131965"/>
            <a:ext cx="10951440" cy="137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0"/>
              </a:lnSpc>
            </a:pPr>
            <a:r>
              <a:rPr lang="en-US" sz="9033" b="1">
                <a:solidFill>
                  <a:srgbClr val="123586"/>
                </a:solidFill>
                <a:latin typeface="Faustina Bold"/>
                <a:ea typeface="Faustina Bold"/>
                <a:cs typeface="Faustina Bold"/>
                <a:sym typeface="Faustina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4600" y="4751595"/>
            <a:ext cx="6615978" cy="1782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2"/>
              </a:lnSpc>
            </a:pP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Cảm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ơn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Thầy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/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Cô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mọi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đã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lắng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nghe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ctr">
              <a:lnSpc>
                <a:spcPts val="3362"/>
              </a:lnSpc>
            </a:pP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Mong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nhận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được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góp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ý 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của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Thầy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/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Cô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và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mọi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người</a:t>
            </a:r>
            <a:r>
              <a:rPr lang="en-US" sz="2802" dirty="0" smtClean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để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em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hoàn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thiện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28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hơn</a:t>
            </a:r>
            <a:r>
              <a:rPr lang="en-US" sz="28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</a:p>
          <a:p>
            <a:pPr algn="ctr">
              <a:lnSpc>
                <a:spcPts val="3722"/>
              </a:lnSpc>
            </a:pPr>
            <a:r>
              <a:rPr lang="en-US" sz="31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1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Trân</a:t>
            </a:r>
            <a:r>
              <a:rPr lang="en-US" sz="31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 </a:t>
            </a:r>
            <a:r>
              <a:rPr lang="en-US" sz="3102" dirty="0" err="1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trọng</a:t>
            </a:r>
            <a:r>
              <a:rPr lang="en-US" sz="3102" dirty="0">
                <a:solidFill>
                  <a:srgbClr val="123586"/>
                </a:solidFill>
                <a:latin typeface="Faustina"/>
                <a:ea typeface="Faustina"/>
                <a:cs typeface="Faustina"/>
                <a:sym typeface="Faustina"/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1822</Words>
  <Application>Microsoft Office PowerPoint</Application>
  <PresentationFormat>Custom</PresentationFormat>
  <Paragraphs>165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Faustina</vt:lpstr>
      <vt:lpstr>Faustina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Xây dựng game puzzle Traffic Master trên nền tảng unity</dc:title>
  <cp:lastModifiedBy>Admin</cp:lastModifiedBy>
  <cp:revision>3</cp:revision>
  <dcterms:created xsi:type="dcterms:W3CDTF">2006-08-16T00:00:00Z</dcterms:created>
  <dcterms:modified xsi:type="dcterms:W3CDTF">2025-07-19T01:46:13Z</dcterms:modified>
  <dc:identifier>DAGq9V4kBnw</dc:identifier>
</cp:coreProperties>
</file>